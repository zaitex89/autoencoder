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oCZ6ffgnBm2I48LB/2Sr0SrZB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283964" y="1165860"/>
            <a:ext cx="475488" cy="1051560"/>
          </a:xfrm>
          <a:prstGeom prst="roundRect">
            <a:avLst>
              <a:gd fmla="val 11538" name="adj"/>
            </a:avLst>
          </a:prstGeom>
          <a:solidFill>
            <a:srgbClr val="3A41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070348" y="1325880"/>
            <a:ext cx="475488" cy="731520"/>
          </a:xfrm>
          <a:prstGeom prst="roundRect">
            <a:avLst>
              <a:gd fmla="val 11538" name="adj"/>
            </a:avLst>
          </a:prstGeom>
          <a:solidFill>
            <a:srgbClr val="35C2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856732" y="1499616"/>
            <a:ext cx="475488" cy="384048"/>
          </a:xfrm>
          <a:prstGeom prst="roundRect">
            <a:avLst>
              <a:gd fmla="val 14286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643116" y="1325880"/>
            <a:ext cx="475488" cy="731520"/>
          </a:xfrm>
          <a:prstGeom prst="roundRect">
            <a:avLst>
              <a:gd fmla="val 11538" name="adj"/>
            </a:avLst>
          </a:prstGeom>
          <a:solidFill>
            <a:srgbClr val="E86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429500" y="1165860"/>
            <a:ext cx="475488" cy="1051560"/>
          </a:xfrm>
          <a:prstGeom prst="roundRect">
            <a:avLst>
              <a:gd fmla="val 11538" name="adj"/>
            </a:avLst>
          </a:prstGeom>
          <a:solidFill>
            <a:srgbClr val="3A41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0" y="2788920"/>
            <a:ext cx="121916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MASKININLÄRNING PROJEKT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0" y="3108960"/>
            <a:ext cx="121916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libri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Autoencoders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371600" y="4069080"/>
            <a:ext cx="94484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Att lära en dator att komprimera och återskapa handskrivna siffror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548640" y="566928"/>
            <a:ext cx="146304" cy="310896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841248" y="45720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Frågan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1554480"/>
            <a:ext cx="61264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Tänk om en dator kunde lära sig att förstå en bild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utan att någon talar om vad den föreställer?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3200400"/>
            <a:ext cx="6126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En autoencoder får en enda uppgift: pressa ihop en bild till några få tal och sedan bygga upp den igen. För att lyckas måste den lära sig vad som faktiskt är viktigt i bilden och kasta bort resten.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406640" y="1737360"/>
            <a:ext cx="4206240" cy="3291840"/>
          </a:xfrm>
          <a:prstGeom prst="roundRect">
            <a:avLst>
              <a:gd fmla="val 3333" name="adj"/>
            </a:avLst>
          </a:prstGeom>
          <a:solidFill>
            <a:srgbClr val="1A1F29"/>
          </a:solidFill>
          <a:ln>
            <a:noFill/>
          </a:ln>
          <a:effectLst>
            <a:outerShdw blurRad="177800" rotWithShape="0" algn="bl" dir="54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7406640" y="205740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Calibri"/>
              <a:buNone/>
            </a:pPr>
            <a:r>
              <a:rPr b="1" i="0" lang="en-US" sz="6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784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098280" y="2057400"/>
            <a:ext cx="822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9875520" y="205740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6200"/>
              <a:buFont typeface="Calibri"/>
              <a:buNone/>
            </a:pPr>
            <a:r>
              <a:rPr b="1" i="0" lang="en-US" sz="62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406640" y="32004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pixlar   →   latent kod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595360" y="3886200"/>
            <a:ext cx="1828800" cy="640080"/>
          </a:xfrm>
          <a:prstGeom prst="roundRect">
            <a:avLst>
              <a:gd fmla="val 14286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595360" y="38862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≈ 24× mindre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Autoencoders  ·  MNIST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548640" y="566928"/>
            <a:ext cx="146304" cy="310896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841248" y="45720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Datan: MNIST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48640" y="1600200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MNIST är standarddatasetet för att börja med bildmodeller: 70 000 handskrivna siffror, 28×28 pixlar i gråskala, jämnt fördelade på tio klasser (0</a:t>
            </a:r>
            <a:r>
              <a:rPr lang="en-US" sz="1600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6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9).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48640" y="32461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60 000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2331720" y="324612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träningsbilder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48640" y="40233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10 000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331720" y="402336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testbilder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48640" y="480060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331720" y="480060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klasser (0</a:t>
            </a: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696712" y="2359152"/>
            <a:ext cx="6163056" cy="2695956"/>
          </a:xfrm>
          <a:prstGeom prst="roundRect">
            <a:avLst>
              <a:gd fmla="val 2035" name="adj"/>
            </a:avLst>
          </a:prstGeom>
          <a:solidFill>
            <a:srgbClr val="FFFFFF"/>
          </a:solidFill>
          <a:ln>
            <a:noFill/>
          </a:ln>
          <a:effectLst>
            <a:outerShdw blurRad="177800" rotWithShape="0" algn="bl" dir="54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g/examples.png" id="58" name="Google Shape;5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6440" y="2468880"/>
            <a:ext cx="594360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5806440" y="5109972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Slumpvisa exempel ur träningsdatan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Autoencoders  ·  MNIST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/>
          <p:nvPr/>
        </p:nvSpPr>
        <p:spPr>
          <a:xfrm>
            <a:off x="548640" y="566928"/>
            <a:ext cx="146304" cy="310896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841248" y="45720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Vad datan berättar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38912" y="2221992"/>
            <a:ext cx="6071616" cy="2657856"/>
          </a:xfrm>
          <a:prstGeom prst="roundRect">
            <a:avLst>
              <a:gd fmla="val 2064" name="adj"/>
            </a:avLst>
          </a:prstGeom>
          <a:solidFill>
            <a:srgbClr val="FFFFFF"/>
          </a:solidFill>
          <a:ln>
            <a:noFill/>
          </a:ln>
          <a:effectLst>
            <a:outerShdw blurRad="177800" rotWithShape="0" algn="bl" dir="54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g/averages.png" id="70" name="Google Shape;7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331720"/>
            <a:ext cx="585216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4"/>
          <p:cNvSpPr/>
          <p:nvPr/>
        </p:nvSpPr>
        <p:spPr>
          <a:xfrm>
            <a:off x="548640" y="4934712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Medelvärdet av alla bilder per siffra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858000" y="164592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Lägger man alla bilder av samma siffra ovanpå varandra får man en suddig prototyp den genomsnittliga form modellen ska lära sig.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858000" y="3209544"/>
            <a:ext cx="146304" cy="146304"/>
          </a:xfrm>
          <a:prstGeom prst="roundRect">
            <a:avLst>
              <a:gd fmla="val 25000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7178040" y="3044952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1:an är skarp nästan alla skriver den likadant.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858000" y="4032504"/>
            <a:ext cx="146304" cy="146304"/>
          </a:xfrm>
          <a:prstGeom prst="roundRect">
            <a:avLst>
              <a:gd fmla="val 25000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7178040" y="3867912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 och 2 är suddiga</a:t>
            </a: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mycket mer variation i handstil.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6858000" y="4855464"/>
            <a:ext cx="146304" cy="146304"/>
          </a:xfrm>
          <a:prstGeom prst="roundRect">
            <a:avLst>
              <a:gd fmla="val 25000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7178040" y="4690872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Klasserna är jämnt fördelade → ingen siffra dominerar.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Autoencoders  ·  MNIST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/>
          <p:nvPr/>
        </p:nvSpPr>
        <p:spPr>
          <a:xfrm>
            <a:off x="548640" y="566928"/>
            <a:ext cx="146304" cy="310896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41248" y="45720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Idén: en autoencoder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40080" y="2240280"/>
            <a:ext cx="1783080" cy="2377440"/>
          </a:xfrm>
          <a:prstGeom prst="roundRect">
            <a:avLst>
              <a:gd fmla="val 5128" name="adj"/>
            </a:avLst>
          </a:prstGeom>
          <a:solidFill>
            <a:srgbClr val="3A41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40080" y="297180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Indata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40080" y="3447288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784 pixlar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2999232" y="2537460"/>
            <a:ext cx="1783080" cy="1783080"/>
          </a:xfrm>
          <a:prstGeom prst="roundRect">
            <a:avLst>
              <a:gd fmla="val 5128" name="adj"/>
            </a:avLst>
          </a:prstGeom>
          <a:solidFill>
            <a:srgbClr val="35C2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2999232" y="297180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Encoder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2999232" y="3447288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komprimerar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358384" y="2857500"/>
            <a:ext cx="1783080" cy="1143000"/>
          </a:xfrm>
          <a:prstGeom prst="roundRect">
            <a:avLst>
              <a:gd fmla="val 8000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5358384" y="297180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Latent kod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358384" y="3447288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32 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717536" y="2537460"/>
            <a:ext cx="1783080" cy="1783080"/>
          </a:xfrm>
          <a:prstGeom prst="roundRect">
            <a:avLst>
              <a:gd fmla="val 5128" name="adj"/>
            </a:avLst>
          </a:prstGeom>
          <a:solidFill>
            <a:srgbClr val="E86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7717536" y="297180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Decoder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717536" y="3447288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återskapar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0076688" y="2240280"/>
            <a:ext cx="1783080" cy="2377440"/>
          </a:xfrm>
          <a:prstGeom prst="roundRect">
            <a:avLst>
              <a:gd fmla="val 5128" name="adj"/>
            </a:avLst>
          </a:prstGeom>
          <a:solidFill>
            <a:srgbClr val="3A41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10076688" y="297180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Utdata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0076688" y="3447288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784 pixlar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5"/>
          <p:cNvCxnSpPr/>
          <p:nvPr/>
        </p:nvCxnSpPr>
        <p:spPr>
          <a:xfrm>
            <a:off x="2496312" y="3429000"/>
            <a:ext cx="429768" cy="0"/>
          </a:xfrm>
          <a:prstGeom prst="straightConnector1">
            <a:avLst/>
          </a:prstGeom>
          <a:noFill/>
          <a:ln cap="flat" cmpd="sng" w="25400">
            <a:solidFill>
              <a:srgbClr val="9AA3B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" name="Google Shape;104;p5"/>
          <p:cNvCxnSpPr/>
          <p:nvPr/>
        </p:nvCxnSpPr>
        <p:spPr>
          <a:xfrm>
            <a:off x="4855464" y="3429000"/>
            <a:ext cx="429768" cy="0"/>
          </a:xfrm>
          <a:prstGeom prst="straightConnector1">
            <a:avLst/>
          </a:prstGeom>
          <a:noFill/>
          <a:ln cap="flat" cmpd="sng" w="25400">
            <a:solidFill>
              <a:srgbClr val="9AA3B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" name="Google Shape;105;p5"/>
          <p:cNvCxnSpPr/>
          <p:nvPr/>
        </p:nvCxnSpPr>
        <p:spPr>
          <a:xfrm>
            <a:off x="7214616" y="3429000"/>
            <a:ext cx="429768" cy="0"/>
          </a:xfrm>
          <a:prstGeom prst="straightConnector1">
            <a:avLst/>
          </a:prstGeom>
          <a:noFill/>
          <a:ln cap="flat" cmpd="sng" w="25400">
            <a:solidFill>
              <a:srgbClr val="9AA3B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" name="Google Shape;106;p5"/>
          <p:cNvCxnSpPr/>
          <p:nvPr/>
        </p:nvCxnSpPr>
        <p:spPr>
          <a:xfrm>
            <a:off x="9573768" y="3429000"/>
            <a:ext cx="429768" cy="0"/>
          </a:xfrm>
          <a:prstGeom prst="straightConnector1">
            <a:avLst/>
          </a:prstGeom>
          <a:noFill/>
          <a:ln cap="flat" cmpd="sng" w="25400">
            <a:solidFill>
              <a:srgbClr val="9AA3B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7" name="Google Shape;107;p5"/>
          <p:cNvSpPr/>
          <p:nvPr/>
        </p:nvSpPr>
        <p:spPr>
          <a:xfrm>
            <a:off x="1371600" y="5212080"/>
            <a:ext cx="94484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Encodern krymper bilden ner till en liten flaskhals; decodern bygger upp den igen från bara de 32 talen.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Autoencoders  ·  MNIST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548640" y="566928"/>
            <a:ext cx="146304" cy="310896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841248" y="45720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Hur den lär sig utan facit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48640" y="1965960"/>
            <a:ext cx="2606040" cy="2468880"/>
          </a:xfrm>
          <a:prstGeom prst="roundRect">
            <a:avLst>
              <a:gd fmla="val 3704" name="adj"/>
            </a:avLst>
          </a:prstGeom>
          <a:solidFill>
            <a:srgbClr val="1A1F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822960" y="2240280"/>
            <a:ext cx="594360" cy="59436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822960" y="22402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04672" y="3017520"/>
            <a:ext cx="20939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Ingen etikett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804672" y="3566160"/>
            <a:ext cx="20939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Modellen får aldrig veta vilken siffra bilden föreställer.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429000" y="1965960"/>
            <a:ext cx="2606040" cy="2468880"/>
          </a:xfrm>
          <a:prstGeom prst="roundRect">
            <a:avLst>
              <a:gd fmla="val 3704" name="adj"/>
            </a:avLst>
          </a:prstGeom>
          <a:solidFill>
            <a:srgbClr val="1A1F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3703320" y="2240280"/>
            <a:ext cx="594360" cy="59436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3703320" y="22402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685032" y="3017520"/>
            <a:ext cx="20939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Målet = bilden själv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685032" y="3566160"/>
            <a:ext cx="20939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Det rätta svaret är helt enkelt originalbilden.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309360" y="1965960"/>
            <a:ext cx="2606040" cy="2468880"/>
          </a:xfrm>
          <a:prstGeom prst="roundRect">
            <a:avLst>
              <a:gd fmla="val 3704" name="adj"/>
            </a:avLst>
          </a:prstGeom>
          <a:solidFill>
            <a:srgbClr val="1A1F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6583680" y="2240280"/>
            <a:ext cx="594360" cy="59436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583680" y="22402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565392" y="3017520"/>
            <a:ext cx="20939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Mät felet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565392" y="3566160"/>
            <a:ext cx="20939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MSE mäter hur mycket rekonstruktionen skiljer sig.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9189720" y="1965960"/>
            <a:ext cx="2606040" cy="2468880"/>
          </a:xfrm>
          <a:prstGeom prst="roundRect">
            <a:avLst>
              <a:gd fmla="val 3704" name="adj"/>
            </a:avLst>
          </a:prstGeom>
          <a:solidFill>
            <a:srgbClr val="1A1F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9464040" y="2240280"/>
            <a:ext cx="594360" cy="59436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9464040" y="22402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9445752" y="3017520"/>
            <a:ext cx="20939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Justera vikterna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9445752" y="3566160"/>
            <a:ext cx="20939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Minska felet om och om igen, bild efter bild.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48640" y="4892040"/>
            <a:ext cx="11091672" cy="960120"/>
          </a:xfrm>
          <a:prstGeom prst="roundRect">
            <a:avLst>
              <a:gd fmla="val 9524" name="adj"/>
            </a:avLst>
          </a:prstGeom>
          <a:solidFill>
            <a:srgbClr val="241E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914400" y="4892040"/>
            <a:ext cx="10515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Oövervakad inlärning: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eftersom svaret är bilden själv behövs inga etiketter</a:t>
            </a: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modellen lär sig strukturen i datan helt på egen hand.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Autoencoders  ·  MNIST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548640" y="566928"/>
            <a:ext cx="146304" cy="310896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841248" y="45720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 bygga den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48640" y="1600200"/>
            <a:ext cx="5029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Modellen är två speglade delar. Encodern trappar ner från 784 till 32 tal; decodern trappar upp igen till 784. Flaskhalsen är det enda som styr hur hårt bilden komprimeras.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48640" y="341071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48640" y="3794760"/>
            <a:ext cx="868680" cy="566928"/>
          </a:xfrm>
          <a:prstGeom prst="roundRect">
            <a:avLst>
              <a:gd fmla="val 14516" name="adj"/>
            </a:avLst>
          </a:prstGeom>
          <a:solidFill>
            <a:srgbClr val="1A1F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548640" y="3794760"/>
            <a:ext cx="868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784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417320" y="3794760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783080" y="3794760"/>
            <a:ext cx="868680" cy="566928"/>
          </a:xfrm>
          <a:prstGeom prst="roundRect">
            <a:avLst>
              <a:gd fmla="val 14516" name="adj"/>
            </a:avLst>
          </a:prstGeom>
          <a:solidFill>
            <a:srgbClr val="1A1F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1783080" y="3794760"/>
            <a:ext cx="868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2651760" y="3794760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017520" y="3794760"/>
            <a:ext cx="868680" cy="566928"/>
          </a:xfrm>
          <a:prstGeom prst="roundRect">
            <a:avLst>
              <a:gd fmla="val 14516" name="adj"/>
            </a:avLst>
          </a:prstGeom>
          <a:solidFill>
            <a:srgbClr val="1A1F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3017520" y="3794760"/>
            <a:ext cx="868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886200" y="3794760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251960" y="3794760"/>
            <a:ext cx="868680" cy="566928"/>
          </a:xfrm>
          <a:prstGeom prst="roundRect">
            <a:avLst>
              <a:gd fmla="val 14516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4251960" y="3794760"/>
            <a:ext cx="868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0E1117"/>
                </a:solidFill>
                <a:latin typeface="Courier New"/>
                <a:ea typeface="Courier New"/>
                <a:cs typeface="Courier New"/>
                <a:sym typeface="Courier New"/>
              </a:rPr>
              <a:t>32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48640" y="464515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Decoder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48640" y="5029200"/>
            <a:ext cx="868680" cy="566928"/>
          </a:xfrm>
          <a:prstGeom prst="roundRect">
            <a:avLst>
              <a:gd fmla="val 14516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548640" y="5029200"/>
            <a:ext cx="868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0E1117"/>
                </a:solidFill>
                <a:latin typeface="Courier New"/>
                <a:ea typeface="Courier New"/>
                <a:cs typeface="Courier New"/>
                <a:sym typeface="Courier New"/>
              </a:rPr>
              <a:t>32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417320" y="5029200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783080" y="5029200"/>
            <a:ext cx="868680" cy="566928"/>
          </a:xfrm>
          <a:prstGeom prst="roundRect">
            <a:avLst>
              <a:gd fmla="val 14516" name="adj"/>
            </a:avLst>
          </a:prstGeom>
          <a:solidFill>
            <a:srgbClr val="1A1F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1783080" y="5029200"/>
            <a:ext cx="868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2651760" y="5029200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017520" y="5029200"/>
            <a:ext cx="868680" cy="566928"/>
          </a:xfrm>
          <a:prstGeom prst="roundRect">
            <a:avLst>
              <a:gd fmla="val 14516" name="adj"/>
            </a:avLst>
          </a:prstGeom>
          <a:solidFill>
            <a:srgbClr val="1A1F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3017520" y="5029200"/>
            <a:ext cx="868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3886200" y="5029200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251960" y="5029200"/>
            <a:ext cx="868680" cy="566928"/>
          </a:xfrm>
          <a:prstGeom prst="roundRect">
            <a:avLst>
              <a:gd fmla="val 14516" name="adj"/>
            </a:avLst>
          </a:prstGeom>
          <a:solidFill>
            <a:srgbClr val="1A1F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251960" y="5029200"/>
            <a:ext cx="868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784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126480" y="1600200"/>
            <a:ext cx="5486400" cy="4206240"/>
          </a:xfrm>
          <a:prstGeom prst="roundRect">
            <a:avLst>
              <a:gd fmla="val 2174" name="adj"/>
            </a:avLst>
          </a:prstGeom>
          <a:solidFill>
            <a:srgbClr val="12151C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6400800" y="1856232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D0D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6D0DE"/>
                </a:solidFill>
                <a:latin typeface="Courier New"/>
                <a:ea typeface="Courier New"/>
                <a:cs typeface="Courier New"/>
                <a:sym typeface="Courier New"/>
              </a:rPr>
              <a:t>class Autoencoder(nn.Module):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D0D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6D0DE"/>
                </a:solidFill>
                <a:latin typeface="Courier New"/>
                <a:ea typeface="Courier New"/>
                <a:cs typeface="Courier New"/>
                <a:sym typeface="Courier New"/>
              </a:rPr>
              <a:t>    def __init__(self, latent_dim=32):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D0D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6D0DE"/>
                </a:solidFill>
                <a:latin typeface="Courier New"/>
                <a:ea typeface="Courier New"/>
                <a:cs typeface="Courier New"/>
                <a:sym typeface="Courier New"/>
              </a:rPr>
              <a:t>        super().__init__()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D0D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6D0DE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self.encoder = nn.Sequential(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D0D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6D0DE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nn.Linear(784, 128), nn.ReLU(),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D0D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6D0DE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nn.Linear(128, 64),  nn.ReLU(),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D0D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6D0DE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nn.Linear(64, latent_dim),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D0D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6D0DE"/>
                </a:solidFill>
                <a:latin typeface="Courier New"/>
                <a:ea typeface="Courier New"/>
                <a:cs typeface="Courier New"/>
                <a:sym typeface="Courier New"/>
              </a:rPr>
              <a:t>        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D0D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6D0DE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self.decoder = nn.Sequential(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D0D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6D0DE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nn.Linear(latent_dim, 64), nn.ReLU(),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D0D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6D0DE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nn.Linear(64, 128), nn.ReLU(),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D0D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6D0DE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nn.Linear(128, 784), nn.Sigmoid(),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6D0D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6D0DE"/>
                </a:solidFill>
                <a:latin typeface="Courier New"/>
                <a:ea typeface="Courier New"/>
                <a:cs typeface="Courier New"/>
                <a:sym typeface="Courier New"/>
              </a:rPr>
              <a:t>        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Autoencoders  ·  MNIST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/>
          <p:nvPr/>
        </p:nvSpPr>
        <p:spPr>
          <a:xfrm>
            <a:off x="548640" y="566928"/>
            <a:ext cx="146304" cy="310896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841248" y="45720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Träning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48640" y="1554480"/>
            <a:ext cx="1828800" cy="640080"/>
          </a:xfrm>
          <a:prstGeom prst="roundRect">
            <a:avLst>
              <a:gd fmla="val 14286" name="adj"/>
            </a:avLst>
          </a:prstGeom>
          <a:solidFill>
            <a:srgbClr val="1A1F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548640" y="15544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C2AE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5C2AE"/>
                </a:solidFill>
                <a:latin typeface="Courier New"/>
                <a:ea typeface="Courier New"/>
                <a:cs typeface="Courier New"/>
                <a:sym typeface="Courier New"/>
              </a:rPr>
              <a:t>20 epoker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2606040" y="1554480"/>
            <a:ext cx="1828800" cy="640080"/>
          </a:xfrm>
          <a:prstGeom prst="roundRect">
            <a:avLst>
              <a:gd fmla="val 14286" name="adj"/>
            </a:avLst>
          </a:prstGeom>
          <a:solidFill>
            <a:srgbClr val="1A1F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2606040" y="15544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C2AE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5C2AE"/>
                </a:solidFill>
                <a:latin typeface="Courier New"/>
                <a:ea typeface="Courier New"/>
                <a:cs typeface="Courier New"/>
                <a:sym typeface="Courier New"/>
              </a:rPr>
              <a:t>Adam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663440" y="1554480"/>
            <a:ext cx="1828800" cy="640080"/>
          </a:xfrm>
          <a:prstGeom prst="roundRect">
            <a:avLst>
              <a:gd fmla="val 14286" name="adj"/>
            </a:avLst>
          </a:prstGeom>
          <a:solidFill>
            <a:srgbClr val="1A1F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4663440" y="15544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C2AE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5C2AE"/>
                </a:solidFill>
                <a:latin typeface="Courier New"/>
                <a:ea typeface="Courier New"/>
                <a:cs typeface="Courier New"/>
                <a:sym typeface="Courier New"/>
              </a:rPr>
              <a:t>lr = 0.001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720840" y="1554480"/>
            <a:ext cx="1828800" cy="640080"/>
          </a:xfrm>
          <a:prstGeom prst="roundRect">
            <a:avLst>
              <a:gd fmla="val 14286" name="adj"/>
            </a:avLst>
          </a:prstGeom>
          <a:solidFill>
            <a:srgbClr val="1A1F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6720840" y="15544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C2AE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5C2AE"/>
                </a:solidFill>
                <a:latin typeface="Courier New"/>
                <a:ea typeface="Courier New"/>
                <a:cs typeface="Courier New"/>
                <a:sym typeface="Courier New"/>
              </a:rPr>
              <a:t>MSE-förlust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48640" y="2743200"/>
            <a:ext cx="3429000" cy="2468880"/>
          </a:xfrm>
          <a:prstGeom prst="roundRect">
            <a:avLst>
              <a:gd fmla="val 4444" name="adj"/>
            </a:avLst>
          </a:prstGeom>
          <a:solidFill>
            <a:srgbClr val="1A1F29"/>
          </a:solidFill>
          <a:ln>
            <a:noFill/>
          </a:ln>
          <a:effectLst>
            <a:outerShdw blurRad="177800" rotWithShape="0" algn="bl" dir="54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868680" y="3090672"/>
            <a:ext cx="502920" cy="502920"/>
          </a:xfrm>
          <a:prstGeom prst="ellipse">
            <a:avLst/>
          </a:prstGeom>
          <a:solidFill>
            <a:srgbClr val="35C2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868680" y="30906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1508760" y="3090672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Träna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914400" y="388620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main.py tränar modellen en gång på hela datan.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3995928" y="2743200"/>
            <a:ext cx="5029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480560" y="2743200"/>
            <a:ext cx="3429000" cy="2468880"/>
          </a:xfrm>
          <a:prstGeom prst="roundRect">
            <a:avLst>
              <a:gd fmla="val 4444" name="adj"/>
            </a:avLst>
          </a:prstGeom>
          <a:solidFill>
            <a:srgbClr val="1A1F29"/>
          </a:solidFill>
          <a:ln>
            <a:noFill/>
          </a:ln>
          <a:effectLst>
            <a:outerShdw blurRad="177800" rotWithShape="0" algn="bl" dir="54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4800600" y="3090672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4800600" y="30906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440680" y="3090672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Spara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846320" y="388620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Vikterna sparas till filen autoencoder.pth.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7927848" y="2743200"/>
            <a:ext cx="5029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8412480" y="2743200"/>
            <a:ext cx="3429000" cy="2468880"/>
          </a:xfrm>
          <a:prstGeom prst="roundRect">
            <a:avLst>
              <a:gd fmla="val 4444" name="adj"/>
            </a:avLst>
          </a:prstGeom>
          <a:solidFill>
            <a:srgbClr val="1A1F29"/>
          </a:solidFill>
          <a:ln>
            <a:noFill/>
          </a:ln>
          <a:effectLst>
            <a:outerShdw blurRad="177800" rotWithShape="0" algn="bl" dir="54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8732520" y="3090672"/>
            <a:ext cx="502920" cy="502920"/>
          </a:xfrm>
          <a:prstGeom prst="ellipse">
            <a:avLst/>
          </a:prstGeom>
          <a:solidFill>
            <a:srgbClr val="E86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8732520" y="30906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9372600" y="3090672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Återanvänd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8778240" y="388620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evaluate.py laddar filen</a:t>
            </a:r>
            <a:r>
              <a:rPr lang="en-US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 ingen omträning behövs.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Snabbare arbetsflöde och du utvärderar exakt den modell du tränade, inte en ny kopia.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Autoencoders  ·  MNIST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/>
          <p:nvPr/>
        </p:nvSpPr>
        <p:spPr>
          <a:xfrm>
            <a:off x="548640" y="566928"/>
            <a:ext cx="146304" cy="310896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841248" y="45720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Resultatet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1139800" y="987552"/>
            <a:ext cx="9912096" cy="3450336"/>
          </a:xfrm>
          <a:prstGeom prst="roundRect">
            <a:avLst>
              <a:gd fmla="val 1325" name="adj"/>
            </a:avLst>
          </a:prstGeom>
          <a:solidFill>
            <a:srgbClr val="FFFFFF"/>
          </a:solidFill>
          <a:ln>
            <a:noFill/>
          </a:ln>
          <a:effectLst>
            <a:outerShdw blurRad="177800" rotWithShape="0" algn="bl" dir="54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mg/comparison.png" id="220" name="Google Shape;2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9528" y="1097280"/>
            <a:ext cx="9692640" cy="3230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9"/>
          <p:cNvSpPr/>
          <p:nvPr/>
        </p:nvSpPr>
        <p:spPr>
          <a:xfrm>
            <a:off x="1249528" y="4456176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Överst originalet, i mitten rekonstruktionen, underst felet (</a:t>
            </a:r>
            <a:r>
              <a:rPr i="1" lang="en-US" sz="1150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värme</a:t>
            </a:r>
            <a:r>
              <a:rPr b="0" i="1" lang="en-US" sz="115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karta).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48640" y="4892040"/>
            <a:ext cx="2651760" cy="1234440"/>
          </a:xfrm>
          <a:prstGeom prst="roundRect">
            <a:avLst>
              <a:gd fmla="val 8889" name="adj"/>
            </a:avLst>
          </a:prstGeom>
          <a:solidFill>
            <a:srgbClr val="1A1F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548640" y="5001768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0.0097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48640" y="564184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MSE  ·  lägre är bättre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3337560" y="4892040"/>
            <a:ext cx="2651760" cy="1234440"/>
          </a:xfrm>
          <a:prstGeom prst="roundRect">
            <a:avLst>
              <a:gd fmla="val 8889" name="adj"/>
            </a:avLst>
          </a:prstGeom>
          <a:solidFill>
            <a:srgbClr val="1A1F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3337560" y="5001768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0.893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3337560" y="564184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SSIM  ·  1.0 = perfekt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263640" y="4892040"/>
            <a:ext cx="53492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Rekonstruktionerna är tydligt igenkännbara. Felbilden visar att felet mest sitter i kanterna på pennstrecken</a:t>
            </a: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 svåraste att återge exakt.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Autoencoders  ·  MNIST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/>
          <p:nvPr/>
        </p:nvSpPr>
        <p:spPr>
          <a:xfrm>
            <a:off x="548640" y="566928"/>
            <a:ext cx="146304" cy="310896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841248" y="45720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Slutsats &amp; nästa steg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548640" y="1600200"/>
            <a:ext cx="146304" cy="310896"/>
          </a:xfrm>
          <a:prstGeom prst="rect">
            <a:avLst/>
          </a:prstGeom>
          <a:solidFill>
            <a:srgbClr val="35C2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822960" y="1536192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Vad projektet visade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548640" y="2331720"/>
            <a:ext cx="146304" cy="146304"/>
          </a:xfrm>
          <a:prstGeom prst="roundRect">
            <a:avLst>
              <a:gd fmla="val 25000" name="adj"/>
            </a:avLst>
          </a:prstGeom>
          <a:solidFill>
            <a:srgbClr val="35C2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868680" y="2139696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En autoencoder kan lära sig en 24× komprimerad representation av en bild.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548640" y="3291840"/>
            <a:ext cx="146304" cy="146304"/>
          </a:xfrm>
          <a:prstGeom prst="roundRect">
            <a:avLst>
              <a:gd fmla="val 25000" name="adj"/>
            </a:avLst>
          </a:prstGeom>
          <a:solidFill>
            <a:srgbClr val="35C2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868680" y="3099816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Den lär sig helt utan etiketter</a:t>
            </a:r>
            <a:r>
              <a:rPr lang="en-US" sz="1500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5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 bara genom att återskapa sin egen indata.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48640" y="4251960"/>
            <a:ext cx="146304" cy="146304"/>
          </a:xfrm>
          <a:prstGeom prst="roundRect">
            <a:avLst>
              <a:gd fmla="val 25000" name="adj"/>
            </a:avLst>
          </a:prstGeom>
          <a:solidFill>
            <a:srgbClr val="35C2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868680" y="4059936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SSIM 0.89 betyder att rekonstruktionerna liknar originalen väl.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400800" y="1600200"/>
            <a:ext cx="146304" cy="310896"/>
          </a:xfrm>
          <a:prstGeom prst="rect">
            <a:avLst/>
          </a:prstGeom>
          <a:solidFill>
            <a:srgbClr val="E86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6675120" y="1536192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Nästa steg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6400800" y="2331720"/>
            <a:ext cx="146304" cy="146304"/>
          </a:xfrm>
          <a:prstGeom prst="roundRect">
            <a:avLst>
              <a:gd fmla="val 25000" name="adj"/>
            </a:avLst>
          </a:prstGeom>
          <a:solidFill>
            <a:srgbClr val="E86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6720840" y="2139696"/>
            <a:ext cx="4892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Mindre flaskhals (latent_dim = 8 eller 2) och jämför felet.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6400800" y="3291840"/>
            <a:ext cx="146304" cy="146304"/>
          </a:xfrm>
          <a:prstGeom prst="roundRect">
            <a:avLst>
              <a:gd fmla="val 25000" name="adj"/>
            </a:avLst>
          </a:prstGeom>
          <a:solidFill>
            <a:srgbClr val="E86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6720840" y="3099816"/>
            <a:ext cx="4892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Denoising: lägg brus på indatan, återskapa den rena bilden.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6400800" y="4251960"/>
            <a:ext cx="146304" cy="146304"/>
          </a:xfrm>
          <a:prstGeom prst="roundRect">
            <a:avLst>
              <a:gd fmla="val 25000" name="adj"/>
            </a:avLst>
          </a:prstGeom>
          <a:solidFill>
            <a:srgbClr val="E86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6720840" y="4059936"/>
            <a:ext cx="4892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Convolutional autoencoder för skarpare rekonstruktioner.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fmla="val 11765" name="adj"/>
            </a:avLst>
          </a:prstGeom>
          <a:solidFill>
            <a:srgbClr val="1A1F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00"/>
              <a:buFont typeface="Calibri"/>
              <a:buNone/>
            </a:pPr>
            <a:r>
              <a:rPr b="1" i="1" lang="en-US" sz="16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Från 784 tal till 32 och tillbaka</a:t>
            </a:r>
            <a:r>
              <a:rPr b="1" i="1" lang="en-US" sz="16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i="1" lang="en-US" sz="16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 datorn hittade själv det som var värt att behålla.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Autoencoders  ·  MNIST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2026-08-24T12:26:57Z</dcterms:created>
  <dc:creator>PptxGenJS</dc:creator>
</cp:coreProperties>
</file>